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6"/>
  </p:notesMasterIdLst>
  <p:handoutMasterIdLst>
    <p:handoutMasterId r:id="rId27"/>
  </p:handoutMasterIdLst>
  <p:sldIdLst>
    <p:sldId id="410" r:id="rId5"/>
    <p:sldId id="383" r:id="rId6"/>
    <p:sldId id="412" r:id="rId7"/>
    <p:sldId id="389" r:id="rId8"/>
    <p:sldId id="409" r:id="rId9"/>
    <p:sldId id="391" r:id="rId10"/>
    <p:sldId id="397" r:id="rId11"/>
    <p:sldId id="408" r:id="rId12"/>
    <p:sldId id="419" r:id="rId13"/>
    <p:sldId id="406" r:id="rId14"/>
    <p:sldId id="404" r:id="rId15"/>
    <p:sldId id="413" r:id="rId16"/>
    <p:sldId id="414" r:id="rId17"/>
    <p:sldId id="415" r:id="rId18"/>
    <p:sldId id="403" r:id="rId19"/>
    <p:sldId id="418" r:id="rId20"/>
    <p:sldId id="417" r:id="rId21"/>
    <p:sldId id="416" r:id="rId22"/>
    <p:sldId id="420" r:id="rId23"/>
    <p:sldId id="421" r:id="rId24"/>
    <p:sldId id="39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EADDC-27E1-0DF2-031C-AF5B7AB65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702E4E-3DFB-9A77-02C6-80A46C474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DB5E36-D8DA-CFA0-D303-BA9E30534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A0306-279F-E41F-3C7A-DE9E33E84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175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248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4331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4E193-BE97-3EC3-778C-1394407A9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9DEED3-5AE0-8011-7F15-AC392FA0A4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39D6B1-0C00-6FDB-48DC-139A5BE5E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0B139-2C76-63C0-5C00-6005BA6E50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0227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6F685-978A-7C9B-C0CD-1D168663E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EBE550-5B27-D3E1-1833-33822EC25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DC8C06-332A-891D-8BFF-621DBDD670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867CA-5D17-129C-68AD-02EFCA8D1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9273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DF865-9630-9A66-10FA-3611E1C8A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3F245-AB35-3325-86CE-7D80782D40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2B75EE-8BF3-5FD1-E3AC-3E747E2397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F1AE1-A6BE-9B3E-24E0-EB15BA0479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532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D1B7B-A732-D0A3-5A27-042D5CCC5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465703-F25E-5245-A284-44D3B9A053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59F46A-D413-C240-4804-F81CFD6BB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C97EA-2F22-AA9F-A226-B9D3F37FC4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7245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4881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C54D2-28B3-D574-3D87-794C2CE1C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647222-B0D2-0B0D-13C9-97EE9C6C9C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204353-EE1E-65F7-B373-0A2A93A43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1ED771-2E55-23D1-4AE3-EFDC2A5775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5186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985F8-DA8B-04DF-F1AC-BA5D5A315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CD510A-6245-3FA3-12BE-10227DF50A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C08F36-176C-A4B0-1EF5-1EF26459B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82286-0282-FE85-01B7-5CAA337613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6109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BE1FD-8A65-B820-CC37-3D8E097AF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55A298-8AED-61B0-723E-4FD71F7F4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99289C-C1DA-ADBD-0040-CDE1534F98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0245D-28C0-8CD9-4524-4671C9319A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6257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CC93C-AE88-73D0-BB3B-061115B29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0D805D-9AE7-C303-47E0-F7F5429E9D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612D2A-2A6B-D3EB-A93E-60198D73F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DC812-177A-E4BC-EB71-A9CE65E4A6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4968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8DBA7-85C4-88DC-CBEB-5580FEEB8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69DEA-C231-5C12-49A5-530C0A7A7C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3FD2F0-C882-9624-83C3-96361885E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DB2B4-5F50-79A8-0F89-2FA24BA373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8000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7559" y="1632857"/>
            <a:ext cx="8394441" cy="2107784"/>
          </a:xfrm>
        </p:spPr>
        <p:txBody>
          <a:bodyPr/>
          <a:lstStyle/>
          <a:p>
            <a:r>
              <a:rPr lang="en-US" dirty="0"/>
              <a:t>OSINT Company Investigation Report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3D791D-1FA4-A510-654B-CE5A5704B03F}"/>
              </a:ext>
            </a:extLst>
          </p:cNvPr>
          <p:cNvSpPr txBox="1"/>
          <p:nvPr/>
        </p:nvSpPr>
        <p:spPr>
          <a:xfrm>
            <a:off x="9607421" y="5122506"/>
            <a:ext cx="2584579" cy="872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Target Company: IBM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Prepared By:</a:t>
            </a:r>
            <a:r>
              <a:rPr lang="en-US" dirty="0">
                <a:solidFill>
                  <a:schemeClr val="bg1"/>
                </a:solidFill>
              </a:rPr>
              <a:t> Medha V P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/>
          <a:lstStyle/>
          <a:p>
            <a:r>
              <a:rPr lang="en-US" dirty="0">
                <a:solidFill>
                  <a:schemeClr val="bg1"/>
                </a:solidFill>
              </a:rPr>
              <a:t>To investigate IBM using only publicly available information and understand its digital presence through OSINT techniques.</a:t>
            </a:r>
          </a:p>
        </p:txBody>
      </p:sp>
      <p:pic>
        <p:nvPicPr>
          <p:cNvPr id="5" name="Picture 4" descr="Ibm Logo PNG &amp; SVG Design For T-Shirts">
            <a:extLst>
              <a:ext uri="{FF2B5EF4-FFF2-40B4-BE49-F238E27FC236}">
                <a16:creationId xmlns:a16="http://schemas.microsoft.com/office/drawing/2014/main" id="{04E690A1-A26F-B92E-50A9-2BFAD4904C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450" b="17161"/>
          <a:stretch>
            <a:fillRect/>
          </a:stretch>
        </p:blipFill>
        <p:spPr>
          <a:xfrm>
            <a:off x="3592285" y="4136231"/>
            <a:ext cx="2753696" cy="161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9CBEC-655C-2069-8946-D8B0BF17B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C7A84-0756-939D-4E4B-C5318560A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Company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191B3F-45D5-9441-295B-7F82490AA62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4" y="2281238"/>
            <a:ext cx="10257777" cy="3988933"/>
          </a:xfrm>
        </p:spPr>
        <p:txBody>
          <a:bodyPr tIns="457200">
            <a:normAutofit fontScale="775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Full Name: International Business Machines Corporation </a:t>
            </a:r>
          </a:p>
          <a:p>
            <a:r>
              <a:rPr lang="en-US" dirty="0">
                <a:solidFill>
                  <a:schemeClr val="bg1"/>
                </a:solidFill>
              </a:rPr>
              <a:t>Founded: 1911 </a:t>
            </a:r>
          </a:p>
          <a:p>
            <a:r>
              <a:rPr lang="en-US" dirty="0">
                <a:solidFill>
                  <a:schemeClr val="bg1"/>
                </a:solidFill>
              </a:rPr>
              <a:t>Headquarters: Armonk, New York, USA </a:t>
            </a:r>
          </a:p>
          <a:p>
            <a:r>
              <a:rPr lang="en-US" dirty="0">
                <a:solidFill>
                  <a:schemeClr val="bg1"/>
                </a:solidFill>
              </a:rPr>
              <a:t>CEO: Arvind Krishna </a:t>
            </a:r>
          </a:p>
          <a:p>
            <a:r>
              <a:rPr lang="en-US" dirty="0">
                <a:solidFill>
                  <a:schemeClr val="bg1"/>
                </a:solidFill>
              </a:rPr>
              <a:t>Industry: Information Technology </a:t>
            </a:r>
          </a:p>
          <a:p>
            <a:r>
              <a:rPr lang="en-US" dirty="0">
                <a:solidFill>
                  <a:schemeClr val="bg1"/>
                </a:solidFill>
              </a:rPr>
              <a:t>Employees: 280,000+ worldwide </a:t>
            </a:r>
          </a:p>
          <a:p>
            <a:r>
              <a:rPr lang="en-US" dirty="0">
                <a:solidFill>
                  <a:schemeClr val="bg1"/>
                </a:solidFill>
              </a:rPr>
              <a:t>Global Presence: Operates in more than 170 countries </a:t>
            </a:r>
          </a:p>
          <a:p>
            <a:r>
              <a:rPr lang="en-US" dirty="0">
                <a:solidFill>
                  <a:schemeClr val="bg1"/>
                </a:solidFill>
              </a:rPr>
              <a:t>Main Products &amp; Services: IBM Cloud, Watson AI, Cybersecurity Solutions, Consulting Services, Quantum Computing</a:t>
            </a:r>
          </a:p>
        </p:txBody>
      </p:sp>
    </p:spTree>
    <p:extLst>
      <p:ext uri="{BB962C8B-B14F-4D97-AF65-F5344CB8AC3E}">
        <p14:creationId xmlns:p14="http://schemas.microsoft.com/office/powerpoint/2010/main" val="565950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8CE60-587E-1D5C-8B50-ED3441BA4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9835" y="430529"/>
            <a:ext cx="5486400" cy="3291840"/>
          </a:xfrm>
        </p:spPr>
        <p:txBody>
          <a:bodyPr/>
          <a:lstStyle/>
          <a:p>
            <a:r>
              <a:rPr lang="en-US" dirty="0"/>
              <a:t>Official Website Investigation</a:t>
            </a:r>
          </a:p>
        </p:txBody>
      </p:sp>
      <p:pic>
        <p:nvPicPr>
          <p:cNvPr id="12" name="Picture Placeholder 4" descr="A close-up of a wood grain">
            <a:extLst>
              <a:ext uri="{FF2B5EF4-FFF2-40B4-BE49-F238E27FC236}">
                <a16:creationId xmlns:a16="http://schemas.microsoft.com/office/drawing/2014/main" id="{7D5BDB53-9169-3BBC-9362-0539514AC7D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1113"/>
            <a:ext cx="5791200" cy="6880226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2AE9C-BA1D-195E-3B93-A5A0CC03D8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99835" y="4568602"/>
            <a:ext cx="5486400" cy="164592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40871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A close-up of a plant">
            <a:extLst>
              <a:ext uri="{FF2B5EF4-FFF2-40B4-BE49-F238E27FC236}">
                <a16:creationId xmlns:a16="http://schemas.microsoft.com/office/drawing/2014/main" id="{8DB431A1-9806-9CFE-0E5F-1A5611C2A66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" r="23"/>
          <a:stretch/>
        </p:blipFill>
        <p:spPr>
          <a:xfrm>
            <a:off x="0" y="0"/>
            <a:ext cx="12192000" cy="6880225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C37279A-330D-886F-340D-494A5005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9" y="444933"/>
            <a:ext cx="5477479" cy="3291840"/>
          </a:xfrm>
        </p:spPr>
        <p:txBody>
          <a:bodyPr/>
          <a:lstStyle/>
          <a:p>
            <a:r>
              <a:rPr lang="en-US" dirty="0"/>
              <a:t>Power of communication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01431E-848A-FFAF-3160-5F8344BC13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49" b="323"/>
          <a:stretch>
            <a:fillRect/>
          </a:stretch>
        </p:blipFill>
        <p:spPr>
          <a:xfrm>
            <a:off x="0" y="0"/>
            <a:ext cx="12192000" cy="688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372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Official Website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/>
          </a:bodyPr>
          <a:lstStyle/>
          <a:p>
            <a:r>
              <a:rPr lang="en-US" b="1" u="sng" dirty="0"/>
              <a:t>Website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https://www.ibm.com</a:t>
            </a:r>
            <a:endParaRPr lang="en-US" dirty="0"/>
          </a:p>
          <a:p>
            <a:r>
              <a:rPr lang="en-US" b="1" u="sng" dirty="0"/>
              <a:t>Observations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HTTPS enabled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Secure SSL certificate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Professional and user-friendly interface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Easy navigation </a:t>
            </a:r>
          </a:p>
          <a:p>
            <a:r>
              <a:rPr lang="en-US" b="1" dirty="0"/>
              <a:t>Main Sections: </a:t>
            </a:r>
            <a:r>
              <a:rPr lang="en-US" dirty="0"/>
              <a:t>Products, Consulting, Research, Careers, Support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96343" y="411479"/>
            <a:ext cx="8399961" cy="3291840"/>
          </a:xfrm>
        </p:spPr>
        <p:txBody>
          <a:bodyPr/>
          <a:lstStyle/>
          <a:p>
            <a:r>
              <a:rPr lang="en-US" dirty="0"/>
              <a:t>Domain &amp; DNS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442CD-A26D-1761-8CE7-8BC3075BB4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09905" y="4549552"/>
            <a:ext cx="5486400" cy="1645920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Domain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4490827" cy="359747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C7B50-71A6-D8BE-C032-5EB4CF5706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81898" y="2676525"/>
            <a:ext cx="4490827" cy="359747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A730BB5-9843-3AE9-A3CE-21EEAFFC7D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629707"/>
              </p:ext>
            </p:extLst>
          </p:nvPr>
        </p:nvGraphicFramePr>
        <p:xfrm>
          <a:off x="1567543" y="3086894"/>
          <a:ext cx="7660434" cy="182880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3834882">
                  <a:extLst>
                    <a:ext uri="{9D8B030D-6E8A-4147-A177-3AD203B41FA5}">
                      <a16:colId xmlns:a16="http://schemas.microsoft.com/office/drawing/2014/main" val="727846683"/>
                    </a:ext>
                  </a:extLst>
                </a:gridCol>
                <a:gridCol w="3825552">
                  <a:extLst>
                    <a:ext uri="{9D8B030D-6E8A-4147-A177-3AD203B41FA5}">
                      <a16:colId xmlns:a16="http://schemas.microsoft.com/office/drawing/2014/main" val="42234696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Details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5527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Domain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ibm.com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87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Registrar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CSC Corporate Domains, Inc.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3296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Created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March 19, 1986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5441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HTTPS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Enabled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6909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E2EE0-397D-AA50-68E2-EE4FDA005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4D5E1-5328-CD3D-71B6-0D20C1C1F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US" dirty="0"/>
              <a:t>DNS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A6712-D9E9-4072-0D4B-E90304C353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3" y="2425959"/>
            <a:ext cx="9145636" cy="407747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US" b="1" dirty="0"/>
              <a:t>DNS Records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A Record 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MX Record 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NS Record </a:t>
            </a:r>
          </a:p>
          <a:p>
            <a:pPr>
              <a:lnSpc>
                <a:spcPct val="100000"/>
              </a:lnSpc>
            </a:pPr>
            <a:r>
              <a:rPr lang="en-US" b="1" dirty="0"/>
              <a:t>Tools Used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WHOIS 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 err="1"/>
              <a:t>DNSChecker</a:t>
            </a:r>
            <a:r>
              <a:rPr lang="en-US" dirty="0"/>
              <a:t> 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 err="1"/>
              <a:t>MXToolbox</a:t>
            </a:r>
            <a:r>
              <a:rPr lang="en-US" dirty="0"/>
              <a:t> 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 err="1"/>
              <a:t>nslookup</a:t>
            </a:r>
            <a:r>
              <a:rPr lang="en-US" dirty="0"/>
              <a:t> </a:t>
            </a:r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6799D-7008-2520-88F3-227B4B9ABB2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2676525"/>
            <a:ext cx="3947160" cy="359747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5546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</p:spPr>
        <p:txBody>
          <a:bodyPr/>
          <a:lstStyle/>
          <a:p>
            <a:r>
              <a:rPr lang="en-US" dirty="0"/>
              <a:t>Technology Stack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2E863-4A4C-76FE-444A-083F9304338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3726" y="3279775"/>
            <a:ext cx="4547442" cy="2994025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</a:p>
        </p:txBody>
      </p:sp>
      <p:pic>
        <p:nvPicPr>
          <p:cNvPr id="5" name="Picture Placeholder 52" descr="Hanging lightbulbs">
            <a:extLst>
              <a:ext uri="{FF2B5EF4-FFF2-40B4-BE49-F238E27FC236}">
                <a16:creationId xmlns:a16="http://schemas.microsoft.com/office/drawing/2014/main" id="{F2B2501C-600C-11B3-1ECD-912D988906A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" r="16"/>
          <a:stretch/>
        </p:blipFill>
        <p:spPr>
          <a:xfrm>
            <a:off x="6096000" y="0"/>
            <a:ext cx="6118225" cy="6858000"/>
          </a:xfrm>
        </p:spPr>
      </p:pic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US" dirty="0"/>
              <a:t>Website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6FB3A-B62C-3DAB-4FD1-B4EBDD650A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3" y="2425959"/>
            <a:ext cx="9145636" cy="407747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IBM uses modern web technologies to provide a secure and reliable user experience.</a:t>
            </a:r>
            <a:endParaRPr lang="en-US" b="1" dirty="0"/>
          </a:p>
          <a:p>
            <a:r>
              <a:rPr lang="en-US" b="1" dirty="0"/>
              <a:t>Technologies Identified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HTTPS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SSL/TLS Encryption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Content Delivery Network (CDN)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JavaScript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Responsive Web Design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Analytics &amp; Cookies </a:t>
            </a:r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E198AA-251D-4446-30C4-8F2FA7F6A72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2676525"/>
            <a:ext cx="3947160" cy="359747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CC18B-1454-46FB-538A-01081A701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F93D2-DEB6-E7CC-B0EA-E4EB422E6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</p:spPr>
        <p:txBody>
          <a:bodyPr/>
          <a:lstStyle/>
          <a:p>
            <a:r>
              <a:rPr lang="en-US" dirty="0"/>
              <a:t>Digital Footprint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2A6B2-54D7-61A5-9974-2552159EC8E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3726" y="3279775"/>
            <a:ext cx="4547442" cy="2994025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</a:p>
        </p:txBody>
      </p:sp>
      <p:pic>
        <p:nvPicPr>
          <p:cNvPr id="5" name="Picture Placeholder 52" descr="Hanging lightbulbs">
            <a:extLst>
              <a:ext uri="{FF2B5EF4-FFF2-40B4-BE49-F238E27FC236}">
                <a16:creationId xmlns:a16="http://schemas.microsoft.com/office/drawing/2014/main" id="{FCA51673-3E0D-9020-AC3C-E64C1264015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" r="16"/>
          <a:stretch/>
        </p:blipFill>
        <p:spPr>
          <a:xfrm>
            <a:off x="6096000" y="0"/>
            <a:ext cx="6118225" cy="6858000"/>
          </a:xfrm>
        </p:spPr>
      </p:pic>
    </p:spTree>
    <p:extLst>
      <p:ext uri="{BB962C8B-B14F-4D97-AF65-F5344CB8AC3E}">
        <p14:creationId xmlns:p14="http://schemas.microsoft.com/office/powerpoint/2010/main" val="173160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1F08D-D403-1412-9BDC-21580E3A7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0BA43-E66C-F355-81C1-7D1B90D8F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US" dirty="0"/>
              <a:t>IBM's Online Presence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5B474-4342-B9B4-DA26-AD6DEC00811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3" y="2425959"/>
            <a:ext cx="9145636" cy="4077478"/>
          </a:xfrm>
        </p:spPr>
        <p:txBody>
          <a:bodyPr>
            <a:normAutofit/>
          </a:bodyPr>
          <a:lstStyle/>
          <a:p>
            <a:r>
              <a:rPr lang="en-US" dirty="0"/>
              <a:t>IBM maintains an active presence across multiple platforms.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dirty="0"/>
              <a:t>Official Platforms: </a:t>
            </a:r>
            <a:r>
              <a:rPr lang="en-US" dirty="0"/>
              <a:t>LinkedIn, GitHub, YouTube, X (Twitter), Facebook, Instagram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dirty="0"/>
              <a:t>Purpose: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Share company updates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Publish research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Recruit talent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Engage with customers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Promote products and services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480B47-5660-276C-13A6-D3553129F33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2676525"/>
            <a:ext cx="3947160" cy="359747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83070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2BC21-E179-ACBA-5270-A1F365159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60DA1-077D-A838-E281-AD6B31C89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</p:spPr>
        <p:txBody>
          <a:bodyPr/>
          <a:lstStyle/>
          <a:p>
            <a:r>
              <a:rPr lang="en-US" dirty="0"/>
              <a:t>Google Dork Investigation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55D2D-3D67-EA6A-5EB1-706E87FA82E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3726" y="3279775"/>
            <a:ext cx="4547442" cy="2994025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</a:p>
        </p:txBody>
      </p:sp>
      <p:pic>
        <p:nvPicPr>
          <p:cNvPr id="5" name="Picture Placeholder 52" descr="Hanging lightbulbs">
            <a:extLst>
              <a:ext uri="{FF2B5EF4-FFF2-40B4-BE49-F238E27FC236}">
                <a16:creationId xmlns:a16="http://schemas.microsoft.com/office/drawing/2014/main" id="{896FD681-3A54-1A13-AC38-67103FE3750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" r="16"/>
          <a:stretch/>
        </p:blipFill>
        <p:spPr>
          <a:xfrm>
            <a:off x="6096000" y="0"/>
            <a:ext cx="6118225" cy="6858000"/>
          </a:xfrm>
        </p:spPr>
      </p:pic>
    </p:spTree>
    <p:extLst>
      <p:ext uri="{BB962C8B-B14F-4D97-AF65-F5344CB8AC3E}">
        <p14:creationId xmlns:p14="http://schemas.microsoft.com/office/powerpoint/2010/main" val="3626044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AB9C34-2B13-E66F-1053-2BA156F8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4005"/>
            <a:ext cx="10972800" cy="1188720"/>
          </a:xfrm>
        </p:spPr>
        <p:txBody>
          <a:bodyPr/>
          <a:lstStyle/>
          <a:p>
            <a:r>
              <a:rPr lang="en-US"/>
              <a:t>Google Dorks Used</a:t>
            </a:r>
            <a:endParaRPr lang="en-US" dirty="0"/>
          </a:p>
        </p:txBody>
      </p:sp>
      <p:graphicFrame>
        <p:nvGraphicFramePr>
          <p:cNvPr id="6" name="Table Placeholder 5">
            <a:extLst>
              <a:ext uri="{FF2B5EF4-FFF2-40B4-BE49-F238E27FC236}">
                <a16:creationId xmlns:a16="http://schemas.microsoft.com/office/drawing/2014/main" id="{3EFD8B3F-C3C7-FB7E-CE96-D89F09299C71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4063129712"/>
              </p:ext>
            </p:extLst>
          </p:nvPr>
        </p:nvGraphicFramePr>
        <p:xfrm>
          <a:off x="1101012" y="2761861"/>
          <a:ext cx="10466148" cy="332771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5233074">
                  <a:extLst>
                    <a:ext uri="{9D8B030D-6E8A-4147-A177-3AD203B41FA5}">
                      <a16:colId xmlns:a16="http://schemas.microsoft.com/office/drawing/2014/main" val="1652791904"/>
                    </a:ext>
                  </a:extLst>
                </a:gridCol>
                <a:gridCol w="5233074">
                  <a:extLst>
                    <a:ext uri="{9D8B030D-6E8A-4147-A177-3AD203B41FA5}">
                      <a16:colId xmlns:a16="http://schemas.microsoft.com/office/drawing/2014/main" val="1030272051"/>
                    </a:ext>
                  </a:extLst>
                </a:gridCol>
              </a:tblGrid>
              <a:tr h="846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Google Dork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0383867"/>
                  </a:ext>
                </a:extLst>
              </a:tr>
              <a:tr h="496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site:ibm.com filetype:pdf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Find PDF documents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1119422"/>
                  </a:ext>
                </a:extLst>
              </a:tr>
              <a:tr h="496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site:ibm.com annual report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Annual reports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337989"/>
                  </a:ext>
                </a:extLst>
              </a:tr>
              <a:tr h="496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site:ibm.com filetype:ppt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Presentations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1186150"/>
                  </a:ext>
                </a:extLst>
              </a:tr>
              <a:tr h="496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site:ibm.com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AI-related pages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8269840"/>
                  </a:ext>
                </a:extLst>
              </a:tr>
              <a:tr h="496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site:ibm.com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sustainability report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ESG reports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0733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2428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DF261-64B4-0E1D-D0D1-250B10AC6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9C0084-BF0D-BAE0-1EB1-F9E0D6AF9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4005"/>
            <a:ext cx="10972800" cy="1188720"/>
          </a:xfrm>
        </p:spPr>
        <p:txBody>
          <a:bodyPr/>
          <a:lstStyle/>
          <a:p>
            <a:r>
              <a:rPr lang="en-US"/>
              <a:t>Google Dorks Used</a:t>
            </a:r>
            <a:endParaRPr lang="en-US" dirty="0"/>
          </a:p>
        </p:txBody>
      </p:sp>
      <p:graphicFrame>
        <p:nvGraphicFramePr>
          <p:cNvPr id="5" name="Table Placeholder 4">
            <a:extLst>
              <a:ext uri="{FF2B5EF4-FFF2-40B4-BE49-F238E27FC236}">
                <a16:creationId xmlns:a16="http://schemas.microsoft.com/office/drawing/2014/main" id="{76A5FEEE-6F1B-7DCF-1C3D-15D6E38BF8CE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3157389336"/>
              </p:ext>
            </p:extLst>
          </p:nvPr>
        </p:nvGraphicFramePr>
        <p:xfrm>
          <a:off x="889000" y="2547257"/>
          <a:ext cx="10382250" cy="2814525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3460750">
                  <a:extLst>
                    <a:ext uri="{9D8B030D-6E8A-4147-A177-3AD203B41FA5}">
                      <a16:colId xmlns:a16="http://schemas.microsoft.com/office/drawing/2014/main" val="3731898350"/>
                    </a:ext>
                  </a:extLst>
                </a:gridCol>
                <a:gridCol w="3460750">
                  <a:extLst>
                    <a:ext uri="{9D8B030D-6E8A-4147-A177-3AD203B41FA5}">
                      <a16:colId xmlns:a16="http://schemas.microsoft.com/office/drawing/2014/main" val="389956788"/>
                    </a:ext>
                  </a:extLst>
                </a:gridCol>
                <a:gridCol w="3460750">
                  <a:extLst>
                    <a:ext uri="{9D8B030D-6E8A-4147-A177-3AD203B41FA5}">
                      <a16:colId xmlns:a16="http://schemas.microsoft.com/office/drawing/2014/main" val="2999703971"/>
                    </a:ext>
                  </a:extLst>
                </a:gridCol>
              </a:tblGrid>
              <a:tr h="562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Document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File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6561048"/>
                  </a:ext>
                </a:extLst>
              </a:tr>
              <a:tr h="562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Annual Report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PDF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Financial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5325876"/>
                  </a:ext>
                </a:extLst>
              </a:tr>
              <a:tr h="562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Sustainability Report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PDF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ESG Activities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73469"/>
                  </a:ext>
                </a:extLst>
              </a:tr>
              <a:tr h="562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AI White 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PDF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AI Research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6289696"/>
                  </a:ext>
                </a:extLst>
              </a:tr>
              <a:tr h="562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Product Brochure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PDF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Product Details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22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6F0EB53-5086-8D38-5389-981E403A2FCE}"/>
              </a:ext>
            </a:extLst>
          </p:cNvPr>
          <p:cNvSpPr txBox="1"/>
          <p:nvPr/>
        </p:nvSpPr>
        <p:spPr>
          <a:xfrm>
            <a:off x="594360" y="5663682"/>
            <a:ext cx="10002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Observation:</a:t>
            </a:r>
            <a:r>
              <a:rPr lang="en-US" dirty="0">
                <a:solidFill>
                  <a:schemeClr val="bg1"/>
                </a:solidFill>
              </a:rPr>
              <a:t> IBM provides extensive public documentation for customers, investors, and researchers.</a:t>
            </a:r>
          </a:p>
        </p:txBody>
      </p:sp>
    </p:spTree>
    <p:extLst>
      <p:ext uri="{BB962C8B-B14F-4D97-AF65-F5344CB8AC3E}">
        <p14:creationId xmlns:p14="http://schemas.microsoft.com/office/powerpoint/2010/main" val="26742614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7DF30-3F0E-2EBA-793D-13C672651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7A7D-06B5-484B-5962-42126253B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US" dirty="0"/>
              <a:t>Wayback Machine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5CF72-6D59-0548-92B9-7414D57A9F5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840" y="2436521"/>
            <a:ext cx="9145636" cy="407747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Historical Website Analysis</a:t>
            </a:r>
          </a:p>
          <a:p>
            <a:r>
              <a:rPr lang="en-US" dirty="0"/>
              <a:t>The Wayback Machine was used to compare older versions of IBM's website with the current version.</a:t>
            </a:r>
          </a:p>
          <a:p>
            <a:r>
              <a:rPr lang="en-US" b="1" dirty="0"/>
              <a:t>Observations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Improved website design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Better navigation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Expanded cloud and AI content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Modern user interface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More customer-focused homepage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C190A7-FEA0-E0E3-E415-52C722734D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2676525"/>
            <a:ext cx="3947160" cy="359747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01654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56604-A6CE-823A-92D9-D73FDA1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07AB1-59B4-9FDC-7AF8-4B4E5CC66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US" dirty="0"/>
              <a:t>Recent News &amp; Developments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BE528-863A-B16C-A929-279DC8B3A56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60" y="2582114"/>
            <a:ext cx="9145636" cy="4077478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Continued investment in Artificial Intelligence.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Expansion of IBM Cloud services.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Advances in Quantum Computing research.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New partnerships in enterprise AI solutions.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Focus on sustainable and responsible technology.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9B8998-9075-33A9-DBDD-B71E04D04E5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2676525"/>
            <a:ext cx="3947160" cy="359747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768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484A0-93A7-F085-3D69-7D874448F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8D450-E566-6A84-C28B-9F8CF1BAD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US" dirty="0"/>
              <a:t>Investigation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DCFDC-0F2F-93C5-6993-71DEE974F64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60" y="2582114"/>
            <a:ext cx="9145636" cy="4077478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IBM has over 100 years of history.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Strong global digital presence.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Secure and professionally maintained website.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Extensive collection of public documents.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Active presence on major social media platforms.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Significant focus on AI, Cloud, and Cybersecurity.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Demonstrates strong cybersecurity and digital infrastructure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08DFE2-87E7-955E-0EF1-71B2C6055DD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2676525"/>
            <a:ext cx="3947160" cy="359747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658878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EF091-EBE7-2F75-1E69-CF64E71CA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7A6E2-EC90-1BD1-9AD4-A5F29286F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D0EC1-E309-A654-13DE-B6FE14A73D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60" y="2582114"/>
            <a:ext cx="9145636" cy="4077478"/>
          </a:xfrm>
        </p:spPr>
        <p:txBody>
          <a:bodyPr>
            <a:normAutofit/>
          </a:bodyPr>
          <a:lstStyle/>
          <a:p>
            <a:r>
              <a:rPr lang="en-US" dirty="0"/>
              <a:t>This investigation demonstrated how publicly available information can be collected and analyzed using OSINT techniques.</a:t>
            </a:r>
          </a:p>
          <a:p>
            <a:r>
              <a:rPr lang="en-US" dirty="0"/>
              <a:t>IBM has a strong digital presence, secure infrastructure, and extensive publicly available resources. This investigation highlights the importance of ethical intelligence gathering and responsible use of open-source information.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EE0B0C-71D6-244A-5CDA-3993D92865F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2676525"/>
            <a:ext cx="3947160" cy="359747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57465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118</TotalTime>
  <Words>573</Words>
  <Application>Microsoft Office PowerPoint</Application>
  <PresentationFormat>Widescreen</PresentationFormat>
  <Paragraphs>160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Franklin Gothic Book</vt:lpstr>
      <vt:lpstr>Franklin Gothic Demi</vt:lpstr>
      <vt:lpstr>Wingdings</vt:lpstr>
      <vt:lpstr>Custom</vt:lpstr>
      <vt:lpstr>OSINT Company Investigation Report</vt:lpstr>
      <vt:lpstr>Objective</vt:lpstr>
      <vt:lpstr>Company Overview</vt:lpstr>
      <vt:lpstr>Official Website Investigation</vt:lpstr>
      <vt:lpstr>Power of communication</vt:lpstr>
      <vt:lpstr>Official Website</vt:lpstr>
      <vt:lpstr>Domain &amp; DNS Analysis</vt:lpstr>
      <vt:lpstr>Domain Information</vt:lpstr>
      <vt:lpstr>DNS Analysis</vt:lpstr>
      <vt:lpstr>Technology Stack Analysis</vt:lpstr>
      <vt:lpstr>Website Technologies</vt:lpstr>
      <vt:lpstr>Digital Footprint</vt:lpstr>
      <vt:lpstr>IBM's Online Presence</vt:lpstr>
      <vt:lpstr>Google Dork Investigation</vt:lpstr>
      <vt:lpstr>Google Dorks Used</vt:lpstr>
      <vt:lpstr>Google Dorks Used</vt:lpstr>
      <vt:lpstr>Wayback Machine Analysis</vt:lpstr>
      <vt:lpstr>Recent News &amp; Developments</vt:lpstr>
      <vt:lpstr>Investigation Summary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Medha V P</dc:creator>
  <cp:lastModifiedBy>Medha V P</cp:lastModifiedBy>
  <cp:revision>2</cp:revision>
  <dcterms:created xsi:type="dcterms:W3CDTF">2026-07-09T13:17:27Z</dcterms:created>
  <dcterms:modified xsi:type="dcterms:W3CDTF">2026-07-10T15:35:38Z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